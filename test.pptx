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Quarterly Comparison (2025 vs 2026)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 Actual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100.0</c:v>
                </c:pt>
                <c:pt idx="1">
                  <c:v>120.0</c:v>
                </c:pt>
                <c:pt idx="2">
                  <c:v>135.0</c:v>
                </c:pt>
                <c:pt idx="3">
                  <c:v>180.0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 Target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124.5</c:v>
                </c:pt>
                <c:pt idx="1">
                  <c:v>142.1</c:v>
                </c:pt>
                <c:pt idx="2">
                  <c:v>158.3</c:v>
                </c:pt>
                <c:pt idx="3">
                  <c:v>230.0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2F5597"/>
                </a:solidFill>
                <a:latin typeface="Malgun Gothic"/>
              </a:rPr>
              <a:t>
      HTML to Editable PPTX Converter
  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595959"/>
                </a:solidFill>
              </a:rPr>
              <a:t>
      Project Scope &amp; Technical Demonstration
 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 i="0">
                <a:solidFill>
                  <a:srgbClr val="333333"/>
                </a:solidFill>
              </a:rPr>
              <a:t>• </a:t>
            </a:r>
            <a:r>
              <a:rPr sz="2000" b="1" i="0">
                <a:solidFill>
                  <a:srgbClr val="333333"/>
                </a:solidFill>
              </a:rPr>
              <a:t>Editable Elements</a:t>
            </a:r>
            <a:r>
              <a:rPr sz="2000" b="0" i="0">
                <a:solidFill>
                  <a:srgbClr val="333333"/>
                </a:solidFill>
              </a:rPr>
              <a:t>: Supports text boxes, native tables, and Excel-backed charts.</a:t>
            </a:r>
          </a:p>
          <a:p>
            <a:pPr/>
            <a:r>
              <a:rPr sz="2000" b="0" i="0">
                <a:solidFill>
                  <a:srgbClr val="333333"/>
                </a:solidFill>
              </a:rPr>
              <a:t>• </a:t>
            </a:r>
            <a:r>
              <a:rPr sz="2000" b="1" i="0">
                <a:solidFill>
                  <a:srgbClr val="333333"/>
                </a:solidFill>
              </a:rPr>
              <a:t>HTML/CSS Layout</a:t>
            </a:r>
            <a:r>
              <a:rPr sz="2000" b="0" i="0">
                <a:solidFill>
                  <a:srgbClr val="333333"/>
                </a:solidFill>
              </a:rPr>
              <a:t>: Positions elements using standard CSS absolute coordinates (</a:t>
            </a:r>
            <a:r>
              <a:rPr sz="2000" b="0" i="0">
                <a:solidFill>
                  <a:srgbClr val="333333"/>
                </a:solidFill>
                <a:latin typeface="Courier New"/>
              </a:rPr>
              <a:t>in</a:t>
            </a:r>
            <a:r>
              <a:rPr sz="2000" b="0" i="0">
                <a:solidFill>
                  <a:srgbClr val="333333"/>
                </a:solidFill>
              </a:rPr>
              <a:t> or </a:t>
            </a:r>
            <a:r>
              <a:rPr sz="2000" b="0" i="0">
                <a:solidFill>
                  <a:srgbClr val="333333"/>
                </a:solidFill>
                <a:latin typeface="Courier New"/>
              </a:rPr>
              <a:t>cm</a:t>
            </a:r>
            <a:r>
              <a:rPr sz="2000" b="0" i="0">
                <a:solidFill>
                  <a:srgbClr val="333333"/>
                </a:solidFill>
              </a:rPr>
              <a:t>).</a:t>
            </a:r>
          </a:p>
          <a:p>
            <a:pPr/>
            <a:r>
              <a:rPr sz="2000" b="0" i="0">
                <a:solidFill>
                  <a:srgbClr val="333333"/>
                </a:solidFill>
              </a:rPr>
              <a:t>• </a:t>
            </a:r>
            <a:r>
              <a:rPr sz="2000" b="1" i="0">
                <a:solidFill>
                  <a:srgbClr val="333333"/>
                </a:solidFill>
              </a:rPr>
              <a:t>Rich Formatting</a:t>
            </a:r>
            <a:r>
              <a:rPr sz="2000" b="0" i="0">
                <a:solidFill>
                  <a:srgbClr val="333333"/>
                </a:solidFill>
              </a:rPr>
              <a:t>: Parses nested formatting tags like </a:t>
            </a:r>
            <a:r>
              <a:rPr sz="2000" b="1" i="0">
                <a:solidFill>
                  <a:srgbClr val="333333"/>
                </a:solidFill>
              </a:rPr>
              <a:t>bold</a:t>
            </a:r>
            <a:r>
              <a:rPr sz="2000" b="0" i="0">
                <a:solidFill>
                  <a:srgbClr val="333333"/>
                </a:solidFill>
              </a:rPr>
              <a:t>, </a:t>
            </a:r>
            <a:r>
              <a:rPr sz="2000" b="0" i="1">
                <a:solidFill>
                  <a:srgbClr val="333333"/>
                </a:solidFill>
              </a:rPr>
              <a:t>italic</a:t>
            </a:r>
            <a:r>
              <a:rPr sz="2000" b="0" i="0">
                <a:solidFill>
                  <a:srgbClr val="333333"/>
                </a:solidFill>
              </a:rPr>
              <a:t>, and custom colors.</a:t>
            </a:r>
          </a:p>
          <a:p>
            <a:pPr/>
            <a:r>
              <a:rPr sz="2000" b="0" i="0">
                <a:solidFill>
                  <a:srgbClr val="333333"/>
                </a:solidFill>
              </a:rPr>
              <a:t>• </a:t>
            </a:r>
            <a:r>
              <a:rPr sz="2000" b="1" i="0">
                <a:solidFill>
                  <a:srgbClr val="333333"/>
                </a:solidFill>
              </a:rPr>
              <a:t>Chart Parsing</a:t>
            </a:r>
            <a:r>
              <a:rPr sz="2000" b="0" i="0">
                <a:solidFill>
                  <a:srgbClr val="333333"/>
                </a:solidFill>
              </a:rPr>
              <a:t>: Automatically extracts serialized JSON data to construct native PowerPoint charts.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2F5597"/>
                </a:solidFill>
              </a:rPr>
              <a:t>
      Financial Performance (Table Demo)
    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2011680"/>
          <a:ext cx="10360152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952"/>
                <a:gridCol w="3657600"/>
                <a:gridCol w="3657600"/>
              </a:tblGrid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2F5597"/>
                          </a:solidFill>
                          <a:latin typeface="Arial"/>
                        </a:rPr>
                        <a:t>Quarter</a:t>
                      </a: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2F5597"/>
                          </a:solidFill>
                          <a:latin typeface="Arial"/>
                        </a:rPr>
                        <a:t>Revenue (USD Millions)</a:t>
                      </a: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2F5597"/>
                          </a:solidFill>
                          <a:latin typeface="Arial"/>
                        </a:rPr>
                        <a:t>Net Margin (%)</a:t>
                      </a: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Arial"/>
                        </a:rPr>
                        <a:t>Q1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Arial"/>
                        </a:rPr>
                        <a:t>$124.5 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000000"/>
                          </a:solidFill>
                          <a:latin typeface="Arial"/>
                        </a:rPr>
                        <a:t>18.5%</a:t>
                      </a:r>
                    </a:p>
                  </a:txBody>
                  <a:tcPr anchor="ctr"/>
                </a:tc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F2F2F2"/>
                          </a:solidFill>
                          <a:latin typeface="Arial"/>
                        </a:rPr>
                        <a:t>Q2 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F2F2F2"/>
                          </a:solidFill>
                          <a:latin typeface="Arial"/>
                        </a:rPr>
                        <a:t>$142.1 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F2F2F2"/>
                          </a:solidFill>
                          <a:latin typeface="Arial"/>
                        </a:rPr>
                        <a:t>19.2%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Arial"/>
                        </a:rPr>
                        <a:t>Q3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Arial"/>
                        </a:rPr>
                        <a:t>$158.3 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000000"/>
                          </a:solidFill>
                          <a:latin typeface="Arial"/>
                        </a:rPr>
                        <a:t>20.1%</a:t>
                      </a:r>
                    </a:p>
                  </a:txBody>
                  <a:tcPr anchor="ctr"/>
                </a:tc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F2F2F2"/>
                          </a:solidFill>
                          <a:latin typeface="Arial"/>
                        </a:rPr>
                        <a:t>Q4 2026 (Projected)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F2F2F2"/>
                          </a:solidFill>
                          <a:latin typeface="Arial"/>
                        </a:rPr>
                        <a:t>$185.0 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F2F2F2"/>
                          </a:solidFill>
                          <a:latin typeface="Arial"/>
                        </a:rPr>
                        <a:t>21.5%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2F5597"/>
                </a:solidFill>
              </a:rPr>
              <a:t>
      Growth Trend Analysis (Chart Demo)
  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/>
              <a:t>The chart on the right illustrates the projected quarterly growth comparing 2025 and 2026.</a:t>
            </a:r>
          </a:p>
          <a:p>
            <a:pPr/>
            <a:r>
              <a:rPr sz="1800" b="0" i="0"/>
              <a:t>• </a:t>
            </a:r>
            <a:r>
              <a:rPr sz="1800" b="1" i="0"/>
              <a:t>Continuous growth</a:t>
            </a:r>
            <a:r>
              <a:rPr sz="1800" b="0" i="0"/>
              <a:t> observed throughout all quarters.</a:t>
            </a:r>
          </a:p>
          <a:p>
            <a:pPr/>
            <a:r>
              <a:rPr sz="1800" b="0" i="0"/>
              <a:t>• </a:t>
            </a:r>
            <a:r>
              <a:rPr sz="1800" b="0" i="0"/>
              <a:t>Q4 shows the highest variance between years (+50M).</a:t>
            </a:r>
          </a:p>
          <a:p>
            <a:pPr/>
            <a:r>
              <a:rPr sz="1800" b="0" i="0"/>
              <a:t>• </a:t>
            </a:r>
            <a:r>
              <a:rPr sz="1800" b="0" i="0"/>
              <a:t>This chart is </a:t>
            </a:r>
            <a:r>
              <a:rPr sz="1800" b="1" i="0"/>
              <a:t>fully editable</a:t>
            </a:r>
            <a:r>
              <a:rPr sz="1800" b="0" i="0"/>
              <a:t> in PowerPoint (Right-click -&gt; Edit Data).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760720" y="2011680"/>
          <a:ext cx="54864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